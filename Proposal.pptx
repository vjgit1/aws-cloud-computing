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ae0c7f4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ae0c7f4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ae0c7f4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ae0c7f4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ae0c7f40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ae0c7f40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b18952d8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b18952d8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ae0c7f40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ae0c7f40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346150" y="836150"/>
            <a:ext cx="6524400" cy="2026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Predicting the next FIFA World Cup Champion</a:t>
            </a:r>
            <a:endParaRPr/>
          </a:p>
        </p:txBody>
      </p:sp>
      <p:sp>
        <p:nvSpPr>
          <p:cNvPr id="55" name="Google Shape;55;p13"/>
          <p:cNvSpPr txBox="1"/>
          <p:nvPr>
            <p:ph idx="1" type="subTitle"/>
          </p:nvPr>
        </p:nvSpPr>
        <p:spPr>
          <a:xfrm>
            <a:off x="311700" y="3289765"/>
            <a:ext cx="8520600" cy="792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Joshua Gray</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Vaijayanti Shrikant Deshmukh</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Lasya Raghavendra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Scope of Project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This project aims to design and deploy a scalable AWS-based machine learning environment capable of predicting the next FIFA World Cup champion using historical and contemporary football data. The system integrates data engineering, analytics, and machine learning pipelines across three separate AWS accounts, each managed by a different team member to ensure balanced collaboration and modular responsibility.</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Sources</a:t>
            </a:r>
            <a:endParaRPr/>
          </a:p>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External Data Sources:</a:t>
            </a:r>
            <a:r>
              <a:rPr lang="en" sz="1200">
                <a:solidFill>
                  <a:schemeClr val="dk1"/>
                </a:solidFill>
              </a:rPr>
              <a:t> We will source data from public repositories, including Kaggle Datasets (historical matches, player stats) and FIFA.com (official team rankings)</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Automated Ingestion (Account 1):</a:t>
            </a:r>
            <a:r>
              <a:rPr lang="en" sz="1200">
                <a:solidFill>
                  <a:schemeClr val="dk1"/>
                </a:solidFill>
              </a:rPr>
              <a:t> An AWS Lambda function is responsible for fetching this data and landing it in its raw format</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Central Storage (Account 1):</a:t>
            </a:r>
            <a:r>
              <a:rPr lang="en" sz="1200">
                <a:solidFill>
                  <a:schemeClr val="dk1"/>
                </a:solidFill>
              </a:rPr>
              <a:t> All incoming data is stored in the "Raw Data" folder within the Shared S3 Bucket, making it accessible to other accounts</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Metadata Tracking (Account 1):</a:t>
            </a:r>
            <a:r>
              <a:rPr lang="en" sz="1200">
                <a:solidFill>
                  <a:schemeClr val="dk1"/>
                </a:solidFill>
              </a:rPr>
              <a:t> Amazon DynamoDB is used to track the ingestion process, storing information like data source, update timestamps, and job statuses</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69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Cloud Architecture/Data Flow</a:t>
            </a:r>
            <a:endParaRPr/>
          </a:p>
        </p:txBody>
      </p:sp>
      <p:sp>
        <p:nvSpPr>
          <p:cNvPr id="73" name="Google Shape;73;p16"/>
          <p:cNvSpPr txBox="1"/>
          <p:nvPr>
            <p:ph idx="1" type="body"/>
          </p:nvPr>
        </p:nvSpPr>
        <p:spPr>
          <a:xfrm>
            <a:off x="311700" y="1171200"/>
            <a:ext cx="4014000" cy="3416400"/>
          </a:xfrm>
          <a:prstGeom prst="rect">
            <a:avLst/>
          </a:prstGeom>
        </p:spPr>
        <p:txBody>
          <a:bodyPr anchorCtr="0" anchor="t" bIns="91425" lIns="91425" spcFirstLastPara="1" rIns="91425" wrap="square" tIns="91425">
            <a:normAutofit fontScale="70000" lnSpcReduction="10000"/>
          </a:bodyPr>
          <a:lstStyle/>
          <a:p>
            <a:pPr indent="-281940" lvl="0" marL="457200" rtl="0" algn="l">
              <a:spcBef>
                <a:spcPts val="0"/>
              </a:spcBef>
              <a:spcAft>
                <a:spcPts val="0"/>
              </a:spcAft>
              <a:buClr>
                <a:schemeClr val="dk1"/>
              </a:buClr>
              <a:buSzPct val="100000"/>
              <a:buChar char="●"/>
            </a:pPr>
            <a:r>
              <a:rPr b="1" lang="en" sz="1200">
                <a:solidFill>
                  <a:schemeClr val="dk1"/>
                </a:solidFill>
              </a:rPr>
              <a:t>Ingestion (Account 1: Data Engineer):</a:t>
            </a:r>
            <a:r>
              <a:rPr lang="en" sz="1200">
                <a:solidFill>
                  <a:schemeClr val="dk1"/>
                </a:solidFill>
              </a:rPr>
              <a:t> Raw data is ingested by AWS Lambda and stored in a Shared S3 Bucket, with metadata managed by DynamoDB</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281940" lvl="0" marL="457200" rtl="0" algn="l">
              <a:spcBef>
                <a:spcPts val="1200"/>
              </a:spcBef>
              <a:spcAft>
                <a:spcPts val="0"/>
              </a:spcAft>
              <a:buClr>
                <a:schemeClr val="dk1"/>
              </a:buClr>
              <a:buSzPct val="100000"/>
              <a:buChar char="●"/>
            </a:pPr>
            <a:r>
              <a:rPr b="1" lang="en" sz="1200">
                <a:solidFill>
                  <a:schemeClr val="dk1"/>
                </a:solidFill>
              </a:rPr>
              <a:t>Feature Engineering (Account 2: Data Analyst):</a:t>
            </a:r>
            <a:r>
              <a:rPr lang="en" sz="1200">
                <a:solidFill>
                  <a:schemeClr val="dk1"/>
                </a:solidFill>
              </a:rPr>
              <a:t> AWS Glue jobs run on the raw data in S3 to transform it and create our predictive features. This processed data is saved back to the Shared S3 Bucket.</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281940" lvl="0" marL="457200" rtl="0" algn="l">
              <a:spcBef>
                <a:spcPts val="1200"/>
              </a:spcBef>
              <a:spcAft>
                <a:spcPts val="0"/>
              </a:spcAft>
              <a:buClr>
                <a:schemeClr val="dk1"/>
              </a:buClr>
              <a:buSzPct val="100000"/>
              <a:buChar char="●"/>
            </a:pPr>
            <a:r>
              <a:rPr b="1" lang="en" sz="1200">
                <a:solidFill>
                  <a:schemeClr val="dk1"/>
                </a:solidFill>
              </a:rPr>
              <a:t>Key Engineered Features:</a:t>
            </a:r>
            <a:r>
              <a:rPr lang="en" sz="1200">
                <a:solidFill>
                  <a:schemeClr val="dk1"/>
                </a:solidFill>
              </a:rPr>
              <a:t> The Glue jobs create features like Team Performance (Recent Form, H2H Record), Player Strength (Star Player Factor, Squad vs. Squad), and Match Context (Host Advantage, Knockout Stage)</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281940" lvl="0" marL="457200" rtl="0" algn="l">
              <a:spcBef>
                <a:spcPts val="1200"/>
              </a:spcBef>
              <a:spcAft>
                <a:spcPts val="0"/>
              </a:spcAft>
              <a:buClr>
                <a:schemeClr val="dk1"/>
              </a:buClr>
              <a:buSzPct val="100000"/>
              <a:buChar char="●"/>
            </a:pPr>
            <a:r>
              <a:rPr b="1" lang="en" sz="1200">
                <a:solidFill>
                  <a:schemeClr val="dk1"/>
                </a:solidFill>
              </a:rPr>
              <a:t>Feature Consumption (Account 3: ML Engineer):</a:t>
            </a:r>
            <a:r>
              <a:rPr lang="en" sz="1200">
                <a:solidFill>
                  <a:schemeClr val="dk1"/>
                </a:solidFill>
              </a:rPr>
              <a:t> The final, clean features are read from the Shared S3 Bucket into Amazon SageMaker Studio, where they are used to train and evaluate the prediction model.</a:t>
            </a:r>
            <a:endParaRPr sz="1900"/>
          </a:p>
        </p:txBody>
      </p:sp>
      <p:pic>
        <p:nvPicPr>
          <p:cNvPr id="74" name="Google Shape;74;p16"/>
          <p:cNvPicPr preferRelativeResize="0"/>
          <p:nvPr/>
        </p:nvPicPr>
        <p:blipFill>
          <a:blip r:embed="rId3">
            <a:alphaModFix/>
          </a:blip>
          <a:stretch>
            <a:fillRect/>
          </a:stretch>
        </p:blipFill>
        <p:spPr>
          <a:xfrm>
            <a:off x="4416498" y="1171200"/>
            <a:ext cx="4727501" cy="3151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lnSpc>
                <a:spcPct val="105000"/>
              </a:lnSpc>
              <a:spcBef>
                <a:spcPts val="0"/>
              </a:spcBef>
              <a:spcAft>
                <a:spcPts val="0"/>
              </a:spcAft>
              <a:buClr>
                <a:schemeClr val="dk1"/>
              </a:buClr>
              <a:buSzPts val="1200"/>
              <a:buChar char="●"/>
            </a:pPr>
            <a:r>
              <a:rPr b="1" lang="en" sz="1200">
                <a:solidFill>
                  <a:schemeClr val="dk1"/>
                </a:solidFill>
              </a:rPr>
              <a:t>Ingestion (Account 1: Data Engineer):</a:t>
            </a:r>
            <a:r>
              <a:rPr lang="en" sz="1200">
                <a:solidFill>
                  <a:schemeClr val="dk1"/>
                </a:solidFill>
              </a:rPr>
              <a:t> Raw data is ingested by AWS Lambda and stored in a Shared S3 Bucket, with metadata managed by </a:t>
            </a:r>
            <a:r>
              <a:rPr b="1" lang="en" sz="1200">
                <a:solidFill>
                  <a:schemeClr val="dk1"/>
                </a:solidFill>
              </a:rPr>
              <a:t>DynamoDB</a:t>
            </a:r>
            <a:endParaRPr sz="1200">
              <a:solidFill>
                <a:schemeClr val="dk1"/>
              </a:solidFill>
            </a:endParaRPr>
          </a:p>
          <a:p>
            <a:pPr indent="0" lvl="0" marL="457200" rtl="0" algn="l">
              <a:lnSpc>
                <a:spcPct val="105000"/>
              </a:lnSpc>
              <a:spcBef>
                <a:spcPts val="1200"/>
              </a:spcBef>
              <a:spcAft>
                <a:spcPts val="0"/>
              </a:spcAft>
              <a:buNone/>
            </a:pPr>
            <a:r>
              <a:t/>
            </a:r>
            <a:endParaRPr sz="1200">
              <a:solidFill>
                <a:schemeClr val="dk1"/>
              </a:solidFill>
            </a:endParaRPr>
          </a:p>
          <a:p>
            <a:pPr indent="-304800" lvl="0" marL="457200" rtl="0" algn="l">
              <a:lnSpc>
                <a:spcPct val="105000"/>
              </a:lnSpc>
              <a:spcBef>
                <a:spcPts val="1200"/>
              </a:spcBef>
              <a:spcAft>
                <a:spcPts val="0"/>
              </a:spcAft>
              <a:buClr>
                <a:schemeClr val="dk1"/>
              </a:buClr>
              <a:buSzPts val="1200"/>
              <a:buChar char="●"/>
            </a:pPr>
            <a:r>
              <a:rPr b="1" lang="en" sz="1200">
                <a:solidFill>
                  <a:schemeClr val="dk1"/>
                </a:solidFill>
              </a:rPr>
              <a:t>Feature Engineering (Account 2: Data Analyst):</a:t>
            </a:r>
            <a:r>
              <a:rPr lang="en" sz="1200">
                <a:solidFill>
                  <a:schemeClr val="dk1"/>
                </a:solidFill>
              </a:rPr>
              <a:t> AWS Glue jobs run on the raw data in S3 to transform it and create our predictive features. This processed data is saved back to the Shared S3 Bucket.</a:t>
            </a:r>
            <a:endParaRPr sz="1200">
              <a:solidFill>
                <a:schemeClr val="dk1"/>
              </a:solidFill>
            </a:endParaRPr>
          </a:p>
          <a:p>
            <a:pPr indent="0" lvl="0" marL="0" rtl="0" algn="l">
              <a:lnSpc>
                <a:spcPct val="105000"/>
              </a:lnSpc>
              <a:spcBef>
                <a:spcPts val="1200"/>
              </a:spcBef>
              <a:spcAft>
                <a:spcPts val="0"/>
              </a:spcAft>
              <a:buNone/>
            </a:pPr>
            <a:r>
              <a:t/>
            </a:r>
            <a:endParaRPr sz="1200">
              <a:solidFill>
                <a:schemeClr val="dk1"/>
              </a:solidFill>
            </a:endParaRPr>
          </a:p>
          <a:p>
            <a:pPr indent="-304800" lvl="0" marL="457200" rtl="0" algn="l">
              <a:lnSpc>
                <a:spcPct val="105000"/>
              </a:lnSpc>
              <a:spcBef>
                <a:spcPts val="1200"/>
              </a:spcBef>
              <a:spcAft>
                <a:spcPts val="0"/>
              </a:spcAft>
              <a:buClr>
                <a:schemeClr val="dk1"/>
              </a:buClr>
              <a:buSzPts val="1200"/>
              <a:buChar char="●"/>
            </a:pPr>
            <a:r>
              <a:rPr b="1" lang="en" sz="1200">
                <a:solidFill>
                  <a:schemeClr val="dk1"/>
                </a:solidFill>
              </a:rPr>
              <a:t>Key Engineered Features:</a:t>
            </a:r>
            <a:r>
              <a:rPr lang="en" sz="1200">
                <a:solidFill>
                  <a:schemeClr val="dk1"/>
                </a:solidFill>
              </a:rPr>
              <a:t> The Glue jobs create features like Team Performance (Recent Form, H2H Record), Player Strength (Star Player Factor, Squad vs. Squad), and Match Context (Host Advantage, Knockout Stage)</a:t>
            </a:r>
            <a:endParaRPr sz="1200">
              <a:solidFill>
                <a:schemeClr val="dk1"/>
              </a:solidFill>
            </a:endParaRPr>
          </a:p>
          <a:p>
            <a:pPr indent="0" lvl="0" marL="0" rtl="0" algn="l">
              <a:lnSpc>
                <a:spcPct val="105000"/>
              </a:lnSpc>
              <a:spcBef>
                <a:spcPts val="1200"/>
              </a:spcBef>
              <a:spcAft>
                <a:spcPts val="0"/>
              </a:spcAft>
              <a:buNone/>
            </a:pPr>
            <a:r>
              <a:t/>
            </a:r>
            <a:endParaRPr sz="1200">
              <a:solidFill>
                <a:schemeClr val="dk1"/>
              </a:solidFill>
            </a:endParaRPr>
          </a:p>
          <a:p>
            <a:pPr indent="-304800" lvl="0" marL="457200" rtl="0" algn="l">
              <a:lnSpc>
                <a:spcPct val="105000"/>
              </a:lnSpc>
              <a:spcBef>
                <a:spcPts val="1200"/>
              </a:spcBef>
              <a:spcAft>
                <a:spcPts val="0"/>
              </a:spcAft>
              <a:buClr>
                <a:schemeClr val="dk1"/>
              </a:buClr>
              <a:buSzPts val="1200"/>
              <a:buChar char="●"/>
            </a:pPr>
            <a:r>
              <a:rPr b="1" lang="en" sz="1200">
                <a:solidFill>
                  <a:schemeClr val="dk1"/>
                </a:solidFill>
              </a:rPr>
              <a:t>Feature Consumption (Account 3: ML Engineer):</a:t>
            </a:r>
            <a:r>
              <a:rPr lang="en" sz="1200">
                <a:solidFill>
                  <a:schemeClr val="dk1"/>
                </a:solidFill>
              </a:rPr>
              <a:t> The final, clean features are read from the Shared S3 Bucket into Amazon SageMaker Studio, where they are used to train and evaluate the prediction model.</a:t>
            </a:r>
            <a:endParaRPr sz="1200">
              <a:solidFill>
                <a:schemeClr val="dk1"/>
              </a:solidFill>
            </a:endParaRPr>
          </a:p>
          <a:p>
            <a:pPr indent="0" lvl="0" marL="0" rtl="0" algn="l">
              <a:lnSpc>
                <a:spcPct val="105000"/>
              </a:lnSpc>
              <a:spcBef>
                <a:spcPts val="1200"/>
              </a:spcBef>
              <a:spcAft>
                <a:spcPts val="1200"/>
              </a:spcAft>
              <a:buNone/>
            </a:pPr>
            <a:r>
              <a:t/>
            </a:r>
            <a:endParaRPr b="1"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Outcomes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Clr>
                <a:schemeClr val="dk1"/>
              </a:buClr>
              <a:buSzPts val="1200"/>
              <a:buChar char="●"/>
            </a:pPr>
            <a:r>
              <a:rPr b="1" lang="en" sz="1200">
                <a:solidFill>
                  <a:schemeClr val="dk1"/>
                </a:solidFill>
              </a:rPr>
              <a:t>A Trained &amp; Deployed Prediction Model:</a:t>
            </a:r>
            <a:r>
              <a:rPr lang="en" sz="1200">
                <a:solidFill>
                  <a:schemeClr val="dk1"/>
                </a:solidFill>
              </a:rPr>
              <a:t> Our primary outcome is a model trained in SageMaker Studio (Account 3) and deployed as a live </a:t>
            </a:r>
            <a:r>
              <a:rPr b="1" lang="en" sz="1200">
                <a:solidFill>
                  <a:schemeClr val="dk1"/>
                </a:solidFill>
              </a:rPr>
              <a:t>EC2 Endpoint</a:t>
            </a:r>
            <a:r>
              <a:rPr lang="en" sz="1200">
                <a:solidFill>
                  <a:schemeClr val="dk1"/>
                </a:solidFill>
              </a:rPr>
              <a:t> to serve real-time match predictions</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An Interactive "Insights" Dashboard:</a:t>
            </a:r>
            <a:r>
              <a:rPr lang="en" sz="1200">
                <a:solidFill>
                  <a:schemeClr val="dk1"/>
                </a:solidFill>
              </a:rPr>
              <a:t> A "World Cup Insights" dashboard, built in QuickSight (Account 3), to visualize model predictions and allow users to analyze team and player statistics</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A Clean &amp; Queryable Feature Set:</a:t>
            </a:r>
            <a:r>
              <a:rPr lang="en" sz="1200">
                <a:solidFill>
                  <a:schemeClr val="dk1"/>
                </a:solidFill>
              </a:rPr>
              <a:t> A production-ready, clean dataset of engineered features, processed by AWS Glue (Account 2), and made queryable for analysts via Amazon Athena</a:t>
            </a:r>
            <a:endParaRPr sz="1200">
              <a:solidFill>
                <a:schemeClr val="dk1"/>
              </a:solidFill>
            </a:endParaRPr>
          </a:p>
          <a:p>
            <a:pPr indent="0" lvl="0" marL="457200" rtl="0" algn="l">
              <a:spcBef>
                <a:spcPts val="1200"/>
              </a:spcBef>
              <a:spcAft>
                <a:spcPts val="0"/>
              </a:spcAft>
              <a:buNone/>
            </a:pPr>
            <a:r>
              <a:t/>
            </a:r>
            <a:endParaRPr sz="1200">
              <a:solidFill>
                <a:schemeClr val="dk1"/>
              </a:solidFill>
            </a:endParaRPr>
          </a:p>
          <a:p>
            <a:pPr indent="-304800" lvl="0" marL="457200" rtl="0" algn="l">
              <a:spcBef>
                <a:spcPts val="1200"/>
              </a:spcBef>
              <a:spcAft>
                <a:spcPts val="0"/>
              </a:spcAft>
              <a:buClr>
                <a:schemeClr val="dk1"/>
              </a:buClr>
              <a:buSzPts val="1200"/>
              <a:buChar char="●"/>
            </a:pPr>
            <a:r>
              <a:rPr b="1" lang="en" sz="1200">
                <a:solidFill>
                  <a:schemeClr val="dk1"/>
                </a:solidFill>
              </a:rPr>
              <a:t>A Secure, Multi-Account Pipeline:</a:t>
            </a:r>
            <a:r>
              <a:rPr lang="en" sz="1200">
                <a:solidFill>
                  <a:schemeClr val="dk1"/>
                </a:solidFill>
              </a:rPr>
              <a:t> A governed and secure data pipeline using VPC Peering and IAM Roles that separates the duties of Data Engineering (Account 1), Data Analysis (Account 2), and ML Engineering (Account 3).</a:t>
            </a:r>
            <a:endParaRPr sz="12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